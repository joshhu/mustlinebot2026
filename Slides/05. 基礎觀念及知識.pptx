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6"/>
  </p:notesMasterIdLst>
  <p:sldIdLst>
    <p:sldId id="681" r:id="rId3"/>
    <p:sldId id="1189" r:id="rId4"/>
    <p:sldId id="1275" r:id="rId5"/>
    <p:sldId id="1192" r:id="rId6"/>
    <p:sldId id="1376" r:id="rId7"/>
    <p:sldId id="1377" r:id="rId8"/>
    <p:sldId id="1378" r:id="rId9"/>
    <p:sldId id="1379" r:id="rId10"/>
    <p:sldId id="1380" r:id="rId11"/>
    <p:sldId id="1381" r:id="rId12"/>
    <p:sldId id="1382" r:id="rId13"/>
    <p:sldId id="1383" r:id="rId14"/>
    <p:sldId id="863" r:id="rId15"/>
    <p:sldId id="865" r:id="rId16"/>
    <p:sldId id="862" r:id="rId17"/>
    <p:sldId id="878" r:id="rId18"/>
    <p:sldId id="1384" r:id="rId19"/>
    <p:sldId id="1389" r:id="rId20"/>
    <p:sldId id="1390" r:id="rId21"/>
    <p:sldId id="1391" r:id="rId22"/>
    <p:sldId id="1392" r:id="rId23"/>
    <p:sldId id="887" r:id="rId24"/>
    <p:sldId id="888" r:id="rId25"/>
    <p:sldId id="889" r:id="rId26"/>
    <p:sldId id="890" r:id="rId27"/>
    <p:sldId id="891" r:id="rId28"/>
    <p:sldId id="892" r:id="rId29"/>
    <p:sldId id="893" r:id="rId30"/>
    <p:sldId id="894" r:id="rId31"/>
    <p:sldId id="895" r:id="rId32"/>
    <p:sldId id="896" r:id="rId33"/>
    <p:sldId id="897" r:id="rId34"/>
    <p:sldId id="898" r:id="rId35"/>
    <p:sldId id="1387" r:id="rId36"/>
    <p:sldId id="1393" r:id="rId37"/>
    <p:sldId id="1395" r:id="rId38"/>
    <p:sldId id="1396" r:id="rId39"/>
    <p:sldId id="1397" r:id="rId40"/>
    <p:sldId id="1398" r:id="rId41"/>
    <p:sldId id="1399" r:id="rId42"/>
    <p:sldId id="1400" r:id="rId43"/>
    <p:sldId id="1401" r:id="rId44"/>
    <p:sldId id="1402" r:id="rId4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6" d="100"/>
          <a:sy n="76" d="100"/>
        </p:scale>
        <p:origin x="8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C8E63-1016-4C78-A51D-85D69DBCD8E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F9955-79FE-4880-BF3F-244E95466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9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20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156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76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250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10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796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177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002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530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266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339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325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525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400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513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179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9574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94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953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703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2513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2056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2963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96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4737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04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30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C2F65-5F2D-3F7C-9595-4016CEA87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194D1B-375D-9E9F-5A2C-B48F3CC41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2B491-D650-EBE9-4741-86225D41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283D51-E3B6-6E1B-FF94-C3796008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8FDA9B-AEAA-410C-F604-092ABE28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05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207E3-EBC2-334A-205A-BDE8DAAD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06A8FE-CD47-1523-E127-13075478D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967D5-F557-4ABE-78B6-34F05B06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226E90-8574-0569-59E7-B17EB252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8D0A48-9114-ECA2-DF6F-063E7306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52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9A45A-C02E-2553-C1FF-4B755E6C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F12AC-FE9C-0AEA-6CA0-428BCA24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ECCA9E-E67C-168C-88FD-AD6CB402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C981C8-8D45-0A47-3806-BE0A87C9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6214E5-6E9B-47B5-6DE2-EDD9AFC7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19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D8FF0-8194-9292-03E2-8FD9BFFF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616BE2-05CC-72D7-4C58-2C94608B5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6E1FB0-D7BC-AB03-E115-23E0AB38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C616FF-D57F-BB61-2380-9DD5269C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A70643-1D27-220A-7C87-B347C045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CC4E3-57A1-D244-76EC-C75C6C3D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25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7C107-5F5A-5745-3B29-19A3E26C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A7CCF-AB7D-8943-8345-8D264A38B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39B061-6BB0-472A-7EA8-2BD58390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70641E-CAE6-718E-5D27-8379B4D2C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F41735-77AE-8771-2BA9-CB5A43574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A02D02-A229-303E-61D3-E64DB0F5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A3038C-EEFF-E4DF-FB45-585E5008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254CE7-7FB6-155F-5444-8C62B87A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43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EB3B1-10B1-93F2-ABE1-3303A4D0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E6DDD-D6B6-2A12-2559-CDD123F4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FD5F7E-798A-CFCA-BD96-0A6EA37B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5BBA7C-3652-3B5A-DE16-03A9EFA9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98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CA852D-E6F2-E0E5-C7E9-292BBC8C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79070F-2A19-0BF1-9D51-8A39FF1F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DFA248-55D7-09DE-89AC-F410589A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2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22C2C-72AF-40E7-F179-280FBA3A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D941CF-E894-2AE5-424E-1943A1C4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341979-4284-521D-3E87-0F00453E4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5FFE4D-6197-DCE1-D5BC-D35DA076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57AA09-1AB2-FBC8-4A19-DF5BDB84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84957F-F6AD-73C3-AD63-0CDABC1A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9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F0122-A61F-D4B4-22EB-9978337D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D876F8-A4BA-59E4-E6BA-31D8AFA07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C92D0E-41CD-ED3A-5CEC-391832488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8945CE-E657-DC86-EA68-28987B7E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9EE069-5CE3-25BE-FB74-8EED9F7E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BCE9B8-20CE-B862-C2B3-29863AD5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0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AE7DA-51E0-2F96-1AED-FA7BD806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5F76AD-0B13-A767-B706-A93FB0229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3148A8-7837-5FA5-10DB-2BB42682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10CBA1-BEA0-9764-75C8-6EEB54C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0B921F-EDB1-16F5-DEB4-7A1F3847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85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49C6C9C-AB4C-0927-2F61-ED83EB15A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437356-3D65-AD66-E6B2-5FB47A00C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C213D5-39B8-E1A9-1CFD-3EBC5820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5A8FDB-DBD3-52BE-5ABF-79DA2E68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2DCB0B-F231-7D13-9BA3-F0486F26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62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3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745839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602981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7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3461294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5092556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1721745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9" y="609604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5663648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297787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8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77551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3646334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790929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5720087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7072142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3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1170670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8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2215604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1479130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2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8127278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5578375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5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0061287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5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2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7331753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4554785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4/16/2026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56021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1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5890A4-F4EB-46CD-3C1F-6CD33D1C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D48A3B-9170-D087-5140-85FCB2871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9AA15-C81B-7795-2EC8-035EF342A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D723AE-7934-015B-761D-5008350D8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6B5AF-7297-1BDF-F072-FE240C06B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12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4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4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2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891" indent="-342891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85800" y="2896001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05. 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基礎觀念及知識</a:t>
            </a:r>
            <a:endParaRPr kumimoji="1" lang="en-US" altLang="zh-TW" sz="6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2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3-4</a:t>
            </a:r>
            <a:r>
              <a:rPr lang="zh-TW" altLang="en-US" sz="2400" b="1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地點：明新科大資管系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841244"/>
            <a:ext cx="8077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先跑一次程式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後台原理</a:t>
            </a: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原理</a:t>
            </a: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JSON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格式說明</a:t>
            </a:r>
          </a:p>
          <a:p>
            <a:pPr marL="514338" indent="-514338">
              <a:buFont typeface="+mj-lt"/>
              <a:buAutoNum type="arabicPeriod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開發框架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Flask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637830" y="355134"/>
            <a:ext cx="386833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本課程內容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6475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先跑一次程式</a:t>
            </a:r>
          </a:p>
        </p:txBody>
      </p:sp>
    </p:spTree>
    <p:extLst>
      <p:ext uri="{BB962C8B-B14F-4D97-AF65-F5344CB8AC3E}">
        <p14:creationId xmlns:p14="http://schemas.microsoft.com/office/powerpoint/2010/main" val="154925260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34697" y="1774132"/>
            <a:ext cx="807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vscode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開啟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pyngrok.ipynb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0501_ReplyBot.ipynb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兩個程式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0500_pyngrok.ipynb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程式中取得</a:t>
            </a: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ngrok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的網址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570412" y="376399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先跑一次程式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D31348B-808A-5202-258D-B4436BE36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72" y="4107711"/>
            <a:ext cx="79438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7912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39479" y="1774132"/>
            <a:ext cx="84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Developer Console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更新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570412" y="376399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先跑一次程式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B56263-BE8B-7D48-E975-FA8F901AD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34266"/>
            <a:ext cx="74676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6647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39479" y="1774132"/>
            <a:ext cx="84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Developer Console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更新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570412" y="376399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先跑一次程式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DB4104D-37D9-3AAE-EDAF-53AC4DA9A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30" y="2714512"/>
            <a:ext cx="7627089" cy="376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2477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89097" y="1214976"/>
            <a:ext cx="84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執行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0501_Replybot.ipynb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811417" y="128502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先跑一次程式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820E793-6B68-F9D7-D2DB-7E54D833B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83" y="2019850"/>
            <a:ext cx="7478233" cy="446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9546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89097" y="1214976"/>
            <a:ext cx="84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按下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Verify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，必須出現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Success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811417" y="128502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先跑一次程式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3FF21DE-9E23-F3A0-1ACC-6053EBD78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59" y="2036882"/>
            <a:ext cx="7152167" cy="350523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DEEA3C1-A74E-D2A2-1B38-080C9A801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4600036"/>
            <a:ext cx="48768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8084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89097" y="1214976"/>
            <a:ext cx="84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把這個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加成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好友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和顯示的會不同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811417" y="128502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先跑一次程式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139C8D6-08DF-B87B-3187-934875472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72" y="2139078"/>
            <a:ext cx="7038753" cy="436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0742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89097" y="1214976"/>
            <a:ext cx="84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客戶端中，輸入文字，會回傳兩次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811417" y="128502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先跑一次程式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08DF5A5-3F8F-BCF1-5B0E-6725FB322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1" y="2520914"/>
            <a:ext cx="4148987" cy="30221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B992D08-14F6-AA5A-943C-999A88B83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313" y="3385945"/>
            <a:ext cx="4536124" cy="210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7502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89097" y="1214976"/>
            <a:ext cx="84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在程式執行的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cell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處會出現一些訊息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811417" y="128502"/>
            <a:ext cx="4697835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先跑一次程式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B49EE09-8520-4724-535C-EBBDAD6C0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5" y="2529193"/>
            <a:ext cx="8874642" cy="365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3518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LINE Bot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後台原理</a:t>
            </a:r>
          </a:p>
        </p:txBody>
      </p:sp>
    </p:spTree>
    <p:extLst>
      <p:ext uri="{BB962C8B-B14F-4D97-AF65-F5344CB8AC3E}">
        <p14:creationId xmlns:p14="http://schemas.microsoft.com/office/powerpoint/2010/main" val="61449675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5C774883-20E7-6C1A-78DB-FCAD8DB3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836676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5456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C8711CD-6C5E-7C5E-B1D7-38F25607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838200"/>
            <a:ext cx="7429500" cy="20955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96CC0F9-AEF1-B553-820C-1518B2FB7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581400"/>
            <a:ext cx="74676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2531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10E11D4-081E-2F4B-8488-2443658A1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219200"/>
            <a:ext cx="8536603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31148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E803A64-5023-6A6D-0FDA-23E1E1280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53" y="1371600"/>
            <a:ext cx="8523094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6088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84909" y="3117410"/>
            <a:ext cx="8299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Webhook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239710366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03870" y="1559087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使用程式而非瀏覽器存取網頁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173660" y="355134"/>
            <a:ext cx="482280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原理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C327F27-5E6C-4806-A48D-4B466F6F6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84" y="2411765"/>
            <a:ext cx="8694637" cy="396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02823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03870" y="1559087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執行本課程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0502_webhook.ipynb</a:t>
            </a:r>
            <a:endParaRPr kumimoji="1" lang="zh-TW" altLang="en-US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173660" y="355134"/>
            <a:ext cx="482280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原理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C92A6BB-F00F-C482-EBE2-07AB750DD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02" y="2229655"/>
            <a:ext cx="7759337" cy="446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1780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03870" y="1559087"/>
            <a:ext cx="8077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同機器測試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執行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r>
              <a:rPr kumimoji="1" lang="en-US" altLang="zh-TW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curl -X POST -H "Content-Type: application/</a:t>
            </a:r>
            <a:r>
              <a:rPr kumimoji="1" lang="en-US" altLang="zh-TW" sz="24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json</a:t>
            </a:r>
            <a:r>
              <a:rPr kumimoji="1" lang="en-US" altLang="zh-TW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" -d '{"key": "value"}' http://127.0.0.1:6000/webhook</a:t>
            </a:r>
            <a:endParaRPr kumimoji="1" lang="zh-TW" altLang="en-US" sz="24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173660" y="355134"/>
            <a:ext cx="482280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原理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10E5C2D-1C89-3E57-FF13-B3C4A4945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5854"/>
            <a:ext cx="9144000" cy="297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134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03870" y="1559087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回應並顯示收到資訊</a:t>
            </a:r>
            <a:endParaRPr kumimoji="1" lang="zh-TW" altLang="en-US" sz="24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2173660" y="355134"/>
            <a:ext cx="4822806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原理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100ACBC-0902-CE3D-DCCB-54AECCF91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8081"/>
            <a:ext cx="9144000" cy="233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54717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2514600" y="3048000"/>
            <a:ext cx="5410200" cy="990600"/>
          </a:xfrm>
        </p:spPr>
        <p:txBody>
          <a:bodyPr/>
          <a:lstStyle/>
          <a:p>
            <a:pPr algn="just"/>
            <a:r>
              <a:rPr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JSON</a:t>
            </a:r>
            <a:r>
              <a:rPr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資料格式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1ACAA0C-883C-C966-1259-350A7E7B3BA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1078AA6-C1A5-45A0-9956-BB8DA3AA2FCD}" type="datetime1">
              <a:rPr kumimoji="0" lang="en-US" altLang="zh-TW" sz="1200" smtClean="0">
                <a:solidFill>
                  <a:schemeClr val="tx2"/>
                </a:solidFill>
              </a:rPr>
              <a:t>4/16/2026</a:t>
            </a:fld>
            <a:endParaRPr kumimoji="0" 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9AC5A1-68ED-EBAF-3E35-202A7D82E3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22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0461716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362200" y="228600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JSON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資料格式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23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4D51629-6478-40B0-266D-C39EAC81C327}"/>
              </a:ext>
            </a:extLst>
          </p:cNvPr>
          <p:cNvSpPr txBox="1"/>
          <p:nvPr/>
        </p:nvSpPr>
        <p:spPr>
          <a:xfrm>
            <a:off x="533400" y="1447800"/>
            <a:ext cx="8305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絕大部分網站非靜態頁面，主要是動態載入資料庫中的資料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網站的目的是提供資料，但主要對象是人類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HTML&amp;CSS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的目的是方便人類觀看，主是一種「資料」的表現層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資料表現層有很多類型，如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html,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txt,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 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xml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等。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Webhook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是程式，通常不需要有表現層，方便網路資料交換即可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最常用的伺服器和伺服器之間交換資料的格式是使用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JSON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20623753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362200" y="228600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JSON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資料格式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24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4D51629-6478-40B0-266D-C39EAC81C327}"/>
              </a:ext>
            </a:extLst>
          </p:cNvPr>
          <p:cNvSpPr txBox="1"/>
          <p:nvPr/>
        </p:nvSpPr>
        <p:spPr>
          <a:xfrm>
            <a:off x="533400" y="14478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JavaScript Object Notion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為全稱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讀音為「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Jason(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街喪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」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不需要有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JavaScript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，本身即為一種常用的資料格式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用於程式之間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伺服器之間、伺服器和客戶端之間，客戶端之間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的資料交換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有些網站會準備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JSON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資料格式專門給網路爬蟲使用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也可做為平常資料儲存的格式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62195582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362200" y="228600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JSON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應用範例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25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4D51629-6478-40B0-266D-C39EAC81C327}"/>
              </a:ext>
            </a:extLst>
          </p:cNvPr>
          <p:cNvSpPr txBox="1"/>
          <p:nvPr/>
        </p:nvSpPr>
        <p:spPr>
          <a:xfrm>
            <a:off x="533400" y="1447800"/>
            <a:ext cx="8305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JSON 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最常用用在 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Web 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網頁程式從 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Server 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端傳送</a:t>
            </a:r>
            <a:r>
              <a:rPr lang="zh-TW" altLang="en-US" sz="3200" b="0" i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資料給客戶端</a:t>
            </a:r>
            <a:endParaRPr lang="en-US" altLang="zh-TW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典型範例就是透過 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AJAX 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方式交換 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JSON 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動態更新頁面</a:t>
            </a:r>
            <a:r>
              <a:rPr lang="en-US" altLang="zh-TW" sz="32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使用者點選了線上產品縮圖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透過 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AJAX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方式將產品 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傳送給伺服器端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伺服器端收到 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，將產品資料 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(ex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價格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描述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編碼成 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JSON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資料，並且回傳給瀏覽器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收到 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JSON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資料，將其解碼 </a:t>
            </a:r>
            <a:r>
              <a:rPr lang="en-US" altLang="zh-TW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(decode) </a:t>
            </a:r>
            <a:r>
              <a:rPr lang="zh-TW" altLang="en-US" sz="2800" b="0" i="0" dirty="0">
                <a:solidFill>
                  <a:srgbClr val="FFFF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並且將資料顯示在網頁上</a:t>
            </a:r>
          </a:p>
        </p:txBody>
      </p:sp>
    </p:spTree>
    <p:extLst>
      <p:ext uri="{BB962C8B-B14F-4D97-AF65-F5344CB8AC3E}">
        <p14:creationId xmlns:p14="http://schemas.microsoft.com/office/powerpoint/2010/main" val="397945448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855CC84-4E5B-B7FC-9DA7-4535DFEAF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66800"/>
            <a:ext cx="63785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9505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B2BF193-BA8F-083E-220E-9CA14765A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2047875"/>
            <a:ext cx="40862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1381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87C963F-2997-F4CF-AF2F-351038FE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814512"/>
            <a:ext cx="48768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734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0A2DE47-0DF9-A090-D11E-383D7B1A3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75" y="1585912"/>
            <a:ext cx="39814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6219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FDA9CDF-148A-67FC-2B9B-90EDCEE02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2119312"/>
            <a:ext cx="37719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3746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7521BCE-6DF2-0FEC-D98E-DD30EE709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733425"/>
            <a:ext cx="826770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2166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465CCC8-37E8-CA97-DF95-80A4E614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1404937"/>
            <a:ext cx="787717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9430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791FA76-F477-CB7A-E44D-869AE4CA5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63" y="1295400"/>
            <a:ext cx="7513273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5245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96931" y="3152046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Web</a:t>
            </a:r>
            <a:r>
              <a:rPr kumimoji="1" lang="zh-TW" altLang="en-US" sz="4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開發框架</a:t>
            </a:r>
            <a:r>
              <a:rPr kumimoji="1" lang="en-US" altLang="zh-TW" sz="4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Flask</a:t>
            </a:r>
            <a:endParaRPr kumimoji="1" lang="zh-TW" altLang="en-US"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7961625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362200" y="228600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前端和後端語言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35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4D51629-6478-40B0-266D-C39EAC81C327}"/>
              </a:ext>
            </a:extLst>
          </p:cNvPr>
          <p:cNvSpPr txBox="1"/>
          <p:nvPr/>
        </p:nvSpPr>
        <p:spPr>
          <a:xfrm>
            <a:off x="533400" y="14478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從瀏覽器輸入網址時，會從伺服器下載靜態檔案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(HTML/CSS)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及動態檔案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en-US" altLang="zh-TW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Javascript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瀏覽器會渲染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HTML/CSS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的內容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瀏覽器也提供</a:t>
            </a:r>
            <a:r>
              <a:rPr kumimoji="1" lang="en-US" altLang="zh-TW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Javascript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執行的平台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這些都稱為「前端語言」。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在使用者端的瀏覽器中執行，並且消耗使用者端的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CPU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及記憶體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通常在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HTML/JavaScript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中會提供表單，讓使用者填寫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61799624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362200" y="228600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前端和後端語言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36</a:t>
            </a:fld>
            <a:endParaRPr kumimoji="0"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BAD7A45-C224-303A-7D60-BEC4D9FF5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65" y="1531500"/>
            <a:ext cx="7811429" cy="465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1132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362200" y="228600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前端和後端語言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37</a:t>
            </a:fld>
            <a:endParaRPr kumimoji="0"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3C97015-1A16-0A4D-BB7F-E71AC8B4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56" y="1692626"/>
            <a:ext cx="8736980" cy="372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647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362200" y="228600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前端和後端語言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38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4D51629-6478-40B0-266D-C39EAC81C327}"/>
              </a:ext>
            </a:extLst>
          </p:cNvPr>
          <p:cNvSpPr txBox="1"/>
          <p:nvPr/>
        </p:nvSpPr>
        <p:spPr>
          <a:xfrm>
            <a:off x="533400" y="1447800"/>
            <a:ext cx="8305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使用者在瀏覽器中填寫的資料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或做出的動作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，會傳回伺服器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伺服器必須對這些資料或動作做處理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例如「傳回搜尋結果」或是「存入資料庫」或是「刷卡進行購買」。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這些在「伺服器」上進行的動作，必須有一個後台處理，這個後台的設計，就是使用「後端語言」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55876032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2362200" y="228600"/>
            <a:ext cx="58674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前端和後端語言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39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4D51629-6478-40B0-266D-C39EAC81C327}"/>
              </a:ext>
            </a:extLst>
          </p:cNvPr>
          <p:cNvSpPr txBox="1"/>
          <p:nvPr/>
        </p:nvSpPr>
        <p:spPr>
          <a:xfrm>
            <a:off x="533400" y="1447800"/>
            <a:ext cx="8305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後端語言可為通用語言，如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Java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、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C#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、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Python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等。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也有專門用來作為後端的語言如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PHP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通用語言對於處理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HTTP/HTTPS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的事務必須重新撰寫類別，非常麻煩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開發出用不同後端語言的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HTTP/HTTPS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專門的類別，稱為「</a:t>
            </a:r>
            <a:r>
              <a:rPr kumimoji="1" lang="en-US" altLang="zh-TW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</a:t>
            </a:r>
            <a:r>
              <a:rPr kumimoji="1" lang="zh-TW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框架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」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Flask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就是針對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Python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開發的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Web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框架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558907891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3310053" y="150541"/>
            <a:ext cx="2934629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Flask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介紹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C536CB5-3C58-6CF1-767E-952B76F12D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B520B05-2240-4566-BE2A-9338980FE8EB}" type="datetime1">
              <a:rPr kumimoji="0" lang="en-US" altLang="zh-TW" sz="12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4/16/2026</a:t>
            </a:fld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316F56-AF12-D872-611F-78AE7ACCBF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40</a:t>
            </a:fld>
            <a:endParaRPr kumimoji="0"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4D51629-6478-40B0-266D-C39EAC81C327}"/>
              </a:ext>
            </a:extLst>
          </p:cNvPr>
          <p:cNvSpPr txBox="1"/>
          <p:nvPr/>
        </p:nvSpPr>
        <p:spPr>
          <a:xfrm>
            <a:off x="533400" y="1447800"/>
            <a:ext cx="8305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Flask 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是一個使用 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Python 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語言編寫的輕量級網頁應用框架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主要用於開發後端服務和 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提供了簡單易用的工具和功能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開發者能快速構建網頁應用和 </a:t>
            </a: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RESTful API</a:t>
            </a: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Flask </a:t>
            </a: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的設計哲學是“微框架”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只提供基本的功能，開發者可以根據需求選擇和添加第三方擴展。</a:t>
            </a:r>
            <a:endParaRPr kumimoji="1"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851388130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94AB573-6213-A7D4-D3D8-2F1CE8276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9" y="1617160"/>
            <a:ext cx="8811020" cy="353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94735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413C6FF-8909-FA32-A3DB-ECB1694E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6" y="1026308"/>
            <a:ext cx="8753707" cy="464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864552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B519A87-2C67-90BB-00A4-5BC68FA43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184"/>
            <a:ext cx="9144000" cy="452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69578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Microsoft Office PowerPoint</Application>
  <PresentationFormat>如螢幕大小 (4:3)</PresentationFormat>
  <Paragraphs>137</Paragraphs>
  <Slides>43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43</vt:i4>
      </vt:variant>
    </vt:vector>
  </HeadingPairs>
  <TitlesOfParts>
    <vt:vector size="51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joshhu</dc:creator>
  <cp:lastModifiedBy>joshhu</cp:lastModifiedBy>
  <cp:revision>2</cp:revision>
  <dcterms:modified xsi:type="dcterms:W3CDTF">2026-04-16T14:08:59Z</dcterms:modified>
</cp:coreProperties>
</file>